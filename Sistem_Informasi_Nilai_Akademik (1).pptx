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b0bb3dd9-a2cb-70cc-8722-4d66207bad5d}">
          <p14:sldIdLst>
            <p14:sldId id="256"/>
          </p14:sldIdLst>
        </p14:section>
        <p14:section name="Gambaran" id="{bce367d6-1f46-a23e-1e6f-f23eaf4ef5af}">
          <p14:sldIdLst>
            <p14:sldId id="257"/>
          </p14:sldIdLst>
        </p14:section>
        <p14:section name="Kebutuhan Fungsional" id="{3abadb13-1976-6070-5f79-4902401c4b0d}">
          <p14:sldIdLst>
            <p14:sldId id="258"/>
            <p14:sldId id="259"/>
            <p14:sldId id="260"/>
            <p14:sldId id="261"/>
          </p14:sldIdLst>
        </p14:section>
        <p14:section name="Perancangan" id="{d43a8015-c43d-87b3-405f-2c7ab6a1f1a9}">
          <p14:sldIdLst>
            <p14:sldId id="262"/>
            <p14:sldId id="263"/>
          </p14:sldIdLst>
        </p14:section>
        <p14:section name="Kebutuhan Non-Fungsional" id="{b83f34b4-7940-b520-5c4a-037b5d579461}">
          <p14:sldIdLst>
            <p14:sldId id="264"/>
            <p14:sldId id="265"/>
            <p14:sldId id="266"/>
          </p14:sldIdLst>
        </p14:section>
        <p14:section name="Penutup" id="{6a51f656-c8bf-1dd0-0636-7dd3e2ca39d3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Pembukaan: perkenalkan kelompok dan nama aplikasi. Fokus presentasi: Sistem Informasi Akademik Sekolah dengan kebutuhan fungsional, non-fungsional, ERD, dan alur kerja.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hal utama: nama aplikasi, kegunaan, dan scope teknis. Perhitungan bobot dijalankan di Controller/backend agar hasil konsisten dan dapat diuji.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FR-01 sampai FR-05, semua berprioritas Wajib. Fokus pada aturan unik (NIS, NISN, NIP/NRG, kode mapel) dan relasi wali kelas.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FR-06 dan FR-07. Tantangan teknis utama: backend mencegah input nilai huruf atau angka di luar 0–100. Validasi klien hanya membantu; keputusan akhir di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FR-08: nilai akhir = jumlah (nilai × bobot), contoh 82,5. FR-09: konversi otomatis ke A/B/C/D mengikuti rentang yang berlaku. Keduanya berprioritas Wajib dan dijalankan di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FR-10 mengambil hasil FR-08 dan FR-09 sehingga rapor konsisten dengan nilai tersimpan. FR-11 berprioritas Seharusnya.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dirancang dari kebutuhan FR-01 sampai FR-11. Relasi inti: SISWA–KELAS, GURU–PENUGASAN–MAPEL–KELAS, SISWA–NILAI–MAPEL, NILAI–RIWAYAT_NILAI, dan NILAI_AKHIR hasil hitung. KONFIG_BOBOT menyimpan bobot yang totalnya 100%.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Alur: Admin menyiapkan data dan konfigurasi, Guru menginput nilai, Sistem memvalidasi lalu menghitung nilai akhir dan huruf di backend, Wali Kelas memeriksa rekap dan mencetak rapor.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NFR-01 sampai NFR-04 menekankan keamanan dan konsistensi data, akurasi perhitungan, dan kinerja. Setiap kebutuhan punya kriteria penerimaan yang dapat diuji.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NFR-05 sampai NFR-07: kemudahan penggunaan, keandalan dengan backup, dan kompatibilitas peramban. Semua NFR berprioritas Wajib.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Matriks dari Lampiran A dokumen SRS. FR-06, FR-07, dan FR-10 terkait ke seluruh NFR karena paling kritis. FR-11 satu-satunya berprioritas Seharusnya.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Cakupan sengaja dibatasi pada pengelolaan nilai agar kebutuhan terukur. Asumsi dan dependensi menjadi dasar perancangan.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ringkasan, lalu buka sesi tanya jawab.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188720"/>
            <a:ext cx="52120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926080"/>
            <a:ext cx="5212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18872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Sistem Informasi Nilai Akademik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29260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Sistem Informasi Akademik Sekolah: input nilai, perhitungan bobot, dan cetak rapor</a:t>
            </a:r>
            <a:endParaRPr lang="en-US" sz="1800" dirty="0"/>
          </a:p>
        </p:txBody>
      </p:sp>
      <p:sp>
        <p:nvSpPr>
          <p:cNvPr id="4" name="Info kelompok"/>
          <p:cNvSpPr txBox="1"/>
          <p:nvPr/>
        </p:nvSpPr>
        <p:spPr>
          <a:xfrm>
            <a:off x="54864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Kelompok 4 · Rekayasa Perangkat Lunak · Program Studi Sistem Informasi · 2026</a:t>
            </a:r>
            <a:endParaRPr lang="en-US" sz="1300" dirty="0"/>
          </a:p>
        </p:txBody>
      </p:sp>
      <p:sp>
        <p:nvSpPr>
          <p:cNvPr id="5" name="Anggota"/>
          <p:cNvSpPr txBox="1"/>
          <p:nvPr/>
        </p:nvSpPr>
        <p:spPr>
          <a:xfrm>
            <a:off x="548640" y="43434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Muhamad Abdul Rohan · Abdul Walid · Abdul Azis Alfarizy · Asep Irawan · Julio Sandra · Fajar Karismawan</a:t>
            </a:r>
            <a:endParaRPr lang="en-US" sz="1200" dirty="0"/>
          </a:p>
        </p:txBody>
      </p:sp>
      <p:sp>
        <p:nvSpPr>
          <p:cNvPr id="6" name="Lingkaran utama"/>
          <p:cNvSpPr/>
          <p:nvPr/>
        </p:nvSpPr>
        <p:spPr>
          <a:xfrm>
            <a:off x="6309360" y="1097280"/>
            <a:ext cx="2377440" cy="23774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kon sekolah" descr="Ikon sekol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783080"/>
            <a:ext cx="1005840" cy="1005840"/>
          </a:xfrm>
          <a:prstGeom prst="rect">
            <a:avLst/>
          </a:prstGeom>
        </p:spPr>
      </p:pic>
      <p:sp>
        <p:nvSpPr>
          <p:cNvPr id="8" name="Lingkaran kecil"/>
          <p:cNvSpPr/>
          <p:nvPr/>
        </p:nvSpPr>
        <p:spPr>
          <a:xfrm>
            <a:off x="6035040" y="33832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kon grafik" descr="Ikon grafi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6118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Gambaran Aplikasi</a:t>
            </a:r>
            <a:endParaRPr lang="en-US" sz="3200" dirty="0"/>
          </a:p>
        </p:txBody>
      </p:sp>
      <p:sp>
        <p:nvSpPr>
          <p:cNvPr id="3" name="Kartu NAMA APLIKASI"/>
          <p:cNvSpPr/>
          <p:nvPr/>
        </p:nvSpPr>
        <p:spPr>
          <a:xfrm>
            <a:off x="457200" y="1280160"/>
            <a:ext cx="2606040" cy="324612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4" name="NAMA APLIKASI circle"/>
          <p:cNvSpPr/>
          <p:nvPr/>
        </p:nvSpPr>
        <p:spPr>
          <a:xfrm>
            <a:off x="68580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NAMA APLIKASI image" descr="NAMA APLIKAS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86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NAMA APLIKASI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60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Sistem Informasi Nilai Akademik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3375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Aplikasi web client-server untuk sekolah, diakses lewat peramban modern oleh Admin, Guru, dan Wali Kelas.</a:t>
            </a:r>
            <a:endParaRPr lang="en-US" sz="1400" dirty="0"/>
          </a:p>
        </p:txBody>
      </p:sp>
      <p:sp>
        <p:nvSpPr>
          <p:cNvPr id="9" name="Kartu KEGUNAAN"/>
          <p:cNvSpPr/>
          <p:nvPr/>
        </p:nvSpPr>
        <p:spPr>
          <a:xfrm>
            <a:off x="3268980" y="1280160"/>
            <a:ext cx="2606040" cy="324612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10" name="KEGUNAAN circle"/>
          <p:cNvSpPr/>
          <p:nvPr/>
        </p:nvSpPr>
        <p:spPr>
          <a:xfrm>
            <a:off x="349758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KEGUNAAN image" descr="KEGUNA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687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97580" y="2286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KEGUNAAN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497580" y="2560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Nilai, kelas, dan rapor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497580" y="33375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Tempat guru memasukkan nilai siswa dan mengelola kelas, serta mencetak rapor akhir.</a:t>
            </a:r>
            <a:endParaRPr lang="en-US" sz="1400" dirty="0"/>
          </a:p>
        </p:txBody>
      </p:sp>
      <p:sp>
        <p:nvSpPr>
          <p:cNvPr id="15" name="Kartu SCOPE"/>
          <p:cNvSpPr/>
          <p:nvPr/>
        </p:nvSpPr>
        <p:spPr>
          <a:xfrm>
            <a:off x="6080760" y="1280160"/>
            <a:ext cx="2606040" cy="324612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16" name="SCOPE circle"/>
          <p:cNvSpPr/>
          <p:nvPr/>
        </p:nvSpPr>
        <p:spPr>
          <a:xfrm>
            <a:off x="630936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SCOPE image" descr="SCO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16687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9360" y="2286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SCOPE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2560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Kalkulasi bobot di backend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33375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Rekayasa perhitungan bobot matematika yang kompleks di tingkat Controller aplikasi.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Fungsional: Login dan Data Master</a:t>
            </a:r>
            <a:endParaRPr lang="en-US" sz="3200" dirty="0"/>
          </a:p>
        </p:txBody>
      </p:sp>
      <p:graphicFrame>
        <p:nvGraphicFramePr>
          <p:cNvPr id="4" name="Tabel FR-01 sampai FR-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2057400"/>
                <a:gridCol w="2194560"/>
                <a:gridCol w="3291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Fungsi dan aktor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Input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Aturan validasi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FR-01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</a:rPr>
                        <a:t>Login dan Autentikasi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Aktor: Admin, Guru, Wali Kelas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Username/email dan kata sandi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Wajib login; akses sesuai peran; sandi ter-hash; akun nonaktif ditolak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FR-02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</a:rPr>
                        <a:t>Master Data Siswa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Aktor: Admin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NIS, NISN, nama, jenis kelamin, tgl lahir, alamat, kelas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NIS dan NISN unik; 1 siswa 1 kelas; data bernilai tidak dihapus permanen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FR-03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</a:rPr>
                        <a:t>Master Data Guru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Aktor: Admin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NIP/NRG, nama, mapel diampu, akun terkait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NIP/NRG unik; 1 akun hanya terkait 1 data guru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FR-04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</a:rPr>
                        <a:t>Master Mata Pelajaran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Aktor: Admin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Kode, nama, dan kelompok mapel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Kode unik; mapel yang sudah bernilai tidak dihapus permanen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FR-05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</a:rPr>
                        <a:t>Master Data Kelas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Aktor: Admin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Nama kelas (tingkat, rombel) dan wali kelas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 kelas 1 wali kelas; 1 wali kelas bertanggung jawab atas 1 kelas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tatan penerimaan"/>
          <p:cNvSpPr/>
          <p:nvPr/>
        </p:nvSpPr>
        <p:spPr>
          <a:xfrm>
            <a:off x="457200" y="4297680"/>
            <a:ext cx="8229600" cy="384048"/>
          </a:xfrm>
          <a:prstGeom prst="roundRect">
            <a:avLst>
              <a:gd name="adj" fmla="val 2381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42976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Wajib. Diterima jika Admin dapat CRUD, data duplikat ditolak, dan perubahan langsung tampil.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Fungsional: Input dan Ubah Nilai</a:t>
            </a:r>
            <a:endParaRPr lang="en-US" sz="3200" dirty="0"/>
          </a:p>
        </p:txBody>
      </p:sp>
      <p:sp>
        <p:nvSpPr>
          <p:cNvPr id="3" name="Kartu FR-06"/>
          <p:cNvSpPr/>
          <p:nvPr/>
        </p:nvSpPr>
        <p:spPr>
          <a:xfrm>
            <a:off x="457200" y="1188720"/>
            <a:ext cx="5029200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FR-06 Input Nilai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325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Guru sesuai penugasan · Wajib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373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Input: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kelas, mapel, periode, jenis, nilai siswa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Validasi: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nilai 0–100; unik per siswa, mapel, periode, jenis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Diterima: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nilai di luar 0–100 ditolak; nilai valid tersimpan dan tampil lagi</a:t>
            </a:r>
            <a:endParaRPr lang="en-US" sz="1400" dirty="0"/>
          </a:p>
        </p:txBody>
      </p:sp>
      <p:sp>
        <p:nvSpPr>
          <p:cNvPr id="7" name="Kartu FR-07"/>
          <p:cNvSpPr/>
          <p:nvPr/>
        </p:nvSpPr>
        <p:spPr>
          <a:xfrm>
            <a:off x="457200" y="3200400"/>
            <a:ext cx="502920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FR-07 Perubahan Nilai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3337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Guru sesuai penugasan · Wajib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490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Proses: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koreksi nilai valid, tercatat waktu dan pengguna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Aturan: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sama dengan input (0–100); riwayat perubahan tersimpan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715000" y="11887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Validasi di backend</a:t>
            </a:r>
            <a:endParaRPr lang="en-US" sz="1700" dirty="0"/>
          </a:p>
        </p:txBody>
      </p:sp>
      <p:sp>
        <p:nvSpPr>
          <p:cNvPr id="12" name="Contoh 85"/>
          <p:cNvSpPr/>
          <p:nvPr/>
        </p:nvSpPr>
        <p:spPr>
          <a:xfrm>
            <a:off x="5715000" y="1600200"/>
            <a:ext cx="297180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97880" y="16002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85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160020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Valid, nilai tersimpan</a:t>
            </a:r>
            <a:endParaRPr lang="en-US" sz="1400" dirty="0"/>
          </a:p>
        </p:txBody>
      </p:sp>
      <p:sp>
        <p:nvSpPr>
          <p:cNvPr id="15" name="Contoh 105"/>
          <p:cNvSpPr/>
          <p:nvPr/>
        </p:nvSpPr>
        <p:spPr>
          <a:xfrm>
            <a:off x="5715000" y="2395728"/>
            <a:ext cx="2971800" cy="68580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97880" y="239572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105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239572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Ditolak: lebih dari 100</a:t>
            </a:r>
            <a:endParaRPr lang="en-US" sz="1400" dirty="0"/>
          </a:p>
        </p:txBody>
      </p:sp>
      <p:sp>
        <p:nvSpPr>
          <p:cNvPr id="18" name="Contoh A"/>
          <p:cNvSpPr/>
          <p:nvPr/>
        </p:nvSpPr>
        <p:spPr>
          <a:xfrm>
            <a:off x="5715000" y="3191256"/>
            <a:ext cx="2971800" cy="68580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97880" y="3191256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A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319125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Ditolak: nilai huruf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40233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Tantangan teknis: algoritma backend menolak huruf dan angka di luar 0–100. Server yang memutuskan.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Fungsional: Hitung dan Konversi</a:t>
            </a:r>
            <a:endParaRPr lang="en-US" sz="3200" dirty="0"/>
          </a:p>
        </p:txBody>
      </p:sp>
      <p:sp>
        <p:nvSpPr>
          <p:cNvPr id="3" name="Bobot Nilai Harian"/>
          <p:cNvSpPr/>
          <p:nvPr/>
        </p:nvSpPr>
        <p:spPr>
          <a:xfrm>
            <a:off x="457200" y="1143000"/>
            <a:ext cx="260604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30%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013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Nilai Harian (bobot default)</a:t>
            </a:r>
            <a:endParaRPr lang="en-US" sz="1400" dirty="0"/>
          </a:p>
        </p:txBody>
      </p:sp>
      <p:sp>
        <p:nvSpPr>
          <p:cNvPr id="6" name="Bobot UTS"/>
          <p:cNvSpPr/>
          <p:nvPr/>
        </p:nvSpPr>
        <p:spPr>
          <a:xfrm>
            <a:off x="3268980" y="1143000"/>
            <a:ext cx="2606040" cy="1051560"/>
          </a:xfrm>
          <a:prstGeom prst="roundRect">
            <a:avLst>
              <a:gd name="adj" fmla="val 8696"/>
            </a:avLst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68980" y="1188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30%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268980" y="18013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UTS (bobot default)</a:t>
            </a:r>
            <a:endParaRPr lang="en-US" sz="1400" dirty="0"/>
          </a:p>
        </p:txBody>
      </p:sp>
      <p:sp>
        <p:nvSpPr>
          <p:cNvPr id="9" name="Bobot UAS"/>
          <p:cNvSpPr/>
          <p:nvPr/>
        </p:nvSpPr>
        <p:spPr>
          <a:xfrm>
            <a:off x="6080760" y="1143000"/>
            <a:ext cx="260604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80760" y="1188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40%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18013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UAS (bobot default)</a:t>
            </a:r>
            <a:endParaRPr lang="en-US" sz="1400" dirty="0"/>
          </a:p>
        </p:txBody>
      </p:sp>
      <p:sp>
        <p:nvSpPr>
          <p:cNvPr id="12" name="Kartu FR-08"/>
          <p:cNvSpPr/>
          <p:nvPr/>
        </p:nvSpPr>
        <p:spPr>
          <a:xfrm>
            <a:off x="457200" y="2377440"/>
            <a:ext cx="402336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FR-08 Nilai akhir (di backend)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Nilai akhir = Σ (nilai × bobot)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246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(80×30%) + (75×30%) + (90×40%) = 82,5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703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Total bobot harus 100%, jika tidak ditolak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Dihitung di Controller, bukan di klien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377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FR-09 Konversi huruf</a:t>
            </a:r>
            <a:endParaRPr lang="en-US" sz="1600" dirty="0"/>
          </a:p>
        </p:txBody>
      </p:sp>
      <p:graphicFrame>
        <p:nvGraphicFramePr>
          <p:cNvPr id="6" name="Tabel konversi huru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69748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55448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Huruf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Rentang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Contoh uji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85 – 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85 → 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75 – &lt;85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82,5 → 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60 – &lt;75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74,9 → 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0 – &lt;60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59,9 → 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4663440" y="43434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Rentang default dapat disesuaikan kebijakan sekolah.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Fungsional: Rapor dan Grafik</a:t>
            </a:r>
            <a:endParaRPr lang="en-US" sz="3200" dirty="0"/>
          </a:p>
        </p:txBody>
      </p:sp>
      <p:sp>
        <p:nvSpPr>
          <p:cNvPr id="3" name="Kartu FR-10 Cetak Rapor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/>
        </p:spPr>
      </p:sp>
      <p:sp>
        <p:nvSpPr>
          <p:cNvPr id="4" name="FR-10 Cetak Rapor circle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R-10 Cetak Rapor image" descr="FR-10 Cetak Rap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56591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FR-10 Cetak Rapor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755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Wali Kelas · Prioritas: Wajib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28600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Input: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pilih siswa dan periode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Isi rapor: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identitas siswa dan kelas, nilai tiap mapel (angka dan huruf), rata-rata, wali kelas, periode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Output: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pratinjau cetak atau PDF, ukuran A4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Aturan: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hanya wali kelas terkait; nilai dari hasil hitung sistem</a:t>
            </a:r>
            <a:endParaRPr lang="en-US" sz="1400" dirty="0"/>
          </a:p>
        </p:txBody>
      </p:sp>
      <p:sp>
        <p:nvSpPr>
          <p:cNvPr id="9" name="Kartu FR-11 Grafik Rata-rata Kelas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/>
        </p:spPr>
      </p:sp>
      <p:sp>
        <p:nvSpPr>
          <p:cNvPr id="10" name="FR-11 Grafik Rata-rata Kelas circle"/>
          <p:cNvSpPr/>
          <p:nvPr/>
        </p:nvSpPr>
        <p:spPr>
          <a:xfrm>
            <a:off x="4892040" y="141732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FR-11 Grafik Rata-rata Kelas image" descr="FR-11 Grafik Rata-rata Kel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630" y="156591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6928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FR-11 Grafik Rata-rata Kelas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669280" y="1755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Wali Kelas, Guru · Prioritas: Seharusnya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892040" y="228600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Input: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pilih kelas dan periode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Proses: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hitung rata-rata nilai akhir per mapel dari nilai valid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Output: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grafik batang rata-rata kelas dengan label sumbu jelas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Diterima: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rata-rata dapat diverifikasi manual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Rancangan Basis Data (ERD)</a:t>
            </a:r>
            <a:endParaRPr lang="en-US" sz="3200" dirty="0"/>
          </a:p>
        </p:txBody>
      </p:sp>
      <p:sp>
        <p:nvSpPr>
          <p:cNvPr id="3" name="Relasi"/>
          <p:cNvSpPr/>
          <p:nvPr/>
        </p:nvSpPr>
        <p:spPr>
          <a:xfrm>
            <a:off x="1828800" y="1600200"/>
            <a:ext cx="34290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47088" y="1426464"/>
            <a:ext cx="155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997964" y="1426464"/>
            <a:ext cx="155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Relasi"/>
          <p:cNvSpPr/>
          <p:nvPr/>
        </p:nvSpPr>
        <p:spPr>
          <a:xfrm>
            <a:off x="3543300" y="1600200"/>
            <a:ext cx="34290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1588" y="1426464"/>
            <a:ext cx="155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712464" y="1426464"/>
            <a:ext cx="155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9" name="Relasi"/>
          <p:cNvSpPr/>
          <p:nvPr/>
        </p:nvSpPr>
        <p:spPr>
          <a:xfrm>
            <a:off x="5257800" y="1600200"/>
            <a:ext cx="34290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76088" y="1426464"/>
            <a:ext cx="155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26964" y="1426464"/>
            <a:ext cx="155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Relasi"/>
          <p:cNvSpPr/>
          <p:nvPr/>
        </p:nvSpPr>
        <p:spPr>
          <a:xfrm>
            <a:off x="6972300" y="1600200"/>
            <a:ext cx="34290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90588" y="1426464"/>
            <a:ext cx="155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141464" y="1426464"/>
            <a:ext cx="155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15" name="Relasi"/>
          <p:cNvSpPr/>
          <p:nvPr/>
        </p:nvSpPr>
        <p:spPr>
          <a:xfrm>
            <a:off x="3543300" y="2862072"/>
            <a:ext cx="34290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1588" y="2688336"/>
            <a:ext cx="155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712464" y="2688336"/>
            <a:ext cx="155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18" name="Relasi"/>
          <p:cNvSpPr/>
          <p:nvPr/>
        </p:nvSpPr>
        <p:spPr>
          <a:xfrm>
            <a:off x="5257800" y="2862072"/>
            <a:ext cx="34290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76088" y="2688336"/>
            <a:ext cx="155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26964" y="2688336"/>
            <a:ext cx="155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21" name="Relasi"/>
          <p:cNvSpPr/>
          <p:nvPr/>
        </p:nvSpPr>
        <p:spPr>
          <a:xfrm>
            <a:off x="6972300" y="2862072"/>
            <a:ext cx="34290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90588" y="2688336"/>
            <a:ext cx="155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141464" y="2688336"/>
            <a:ext cx="155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24" name="Relasi"/>
          <p:cNvSpPr/>
          <p:nvPr/>
        </p:nvSpPr>
        <p:spPr>
          <a:xfrm>
            <a:off x="2857500" y="2103120"/>
            <a:ext cx="0" cy="256032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74620" y="2121408"/>
            <a:ext cx="155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2894076" y="2194560"/>
            <a:ext cx="155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27" name="Relasi"/>
          <p:cNvSpPr/>
          <p:nvPr/>
        </p:nvSpPr>
        <p:spPr>
          <a:xfrm>
            <a:off x="6286500" y="2103120"/>
            <a:ext cx="0" cy="256032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03620" y="2121408"/>
            <a:ext cx="155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323076" y="2194560"/>
            <a:ext cx="155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30" name="Relasi"/>
          <p:cNvSpPr/>
          <p:nvPr/>
        </p:nvSpPr>
        <p:spPr>
          <a:xfrm>
            <a:off x="6286500" y="3364992"/>
            <a:ext cx="0" cy="256032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03620" y="3383280"/>
            <a:ext cx="155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323076" y="3456432"/>
            <a:ext cx="155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33" name="Relasi"/>
          <p:cNvSpPr/>
          <p:nvPr/>
        </p:nvSpPr>
        <p:spPr>
          <a:xfrm>
            <a:off x="3131820" y="2231136"/>
            <a:ext cx="0" cy="128016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34" name="Relasi"/>
          <p:cNvSpPr/>
          <p:nvPr/>
        </p:nvSpPr>
        <p:spPr>
          <a:xfrm>
            <a:off x="3131820" y="2231136"/>
            <a:ext cx="58293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35" name="Relasi"/>
          <p:cNvSpPr/>
          <p:nvPr/>
        </p:nvSpPr>
        <p:spPr>
          <a:xfrm>
            <a:off x="3714750" y="1874520"/>
            <a:ext cx="0" cy="356616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36" name="Relasi"/>
          <p:cNvSpPr/>
          <p:nvPr/>
        </p:nvSpPr>
        <p:spPr>
          <a:xfrm>
            <a:off x="3714750" y="1874520"/>
            <a:ext cx="17145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168396" y="2203704"/>
            <a:ext cx="155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3712464" y="1700784"/>
            <a:ext cx="155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39" name="Entitas USER"/>
          <p:cNvSpPr/>
          <p:nvPr/>
        </p:nvSpPr>
        <p:spPr>
          <a:xfrm>
            <a:off x="457200" y="1097280"/>
            <a:ext cx="1371600" cy="1005840"/>
          </a:xfrm>
          <a:prstGeom prst="rect">
            <a:avLst/>
          </a:prstGeom>
          <a:solidFill>
            <a:schemeClr val="bg2"/>
          </a:solidFill>
          <a:ln w="9525">
            <a:solidFill>
              <a:srgbClr val="C5D3D6"/>
            </a:solidFill>
            <a:prstDash val="solid"/>
          </a:ln>
        </p:spPr>
      </p:sp>
      <p:sp>
        <p:nvSpPr>
          <p:cNvPr id="40" name="Header USER"/>
          <p:cNvSpPr/>
          <p:nvPr/>
        </p:nvSpPr>
        <p:spPr>
          <a:xfrm>
            <a:off x="457200" y="1097280"/>
            <a:ext cx="1371600" cy="24688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57200" y="109728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USER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30352" y="1389888"/>
            <a:ext cx="1243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PK id_user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username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password_hash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role, status_aktif</a:t>
            </a:r>
            <a:endParaRPr lang="en-US" sz="1000" dirty="0"/>
          </a:p>
        </p:txBody>
      </p:sp>
      <p:sp>
        <p:nvSpPr>
          <p:cNvPr id="43" name="Entitas GURU"/>
          <p:cNvSpPr/>
          <p:nvPr/>
        </p:nvSpPr>
        <p:spPr>
          <a:xfrm>
            <a:off x="2171700" y="1097280"/>
            <a:ext cx="1371600" cy="1005840"/>
          </a:xfrm>
          <a:prstGeom prst="rect">
            <a:avLst/>
          </a:prstGeom>
          <a:solidFill>
            <a:schemeClr val="bg2"/>
          </a:solidFill>
          <a:ln w="9525">
            <a:solidFill>
              <a:srgbClr val="C5D3D6"/>
            </a:solidFill>
            <a:prstDash val="solid"/>
          </a:ln>
        </p:spPr>
      </p:sp>
      <p:sp>
        <p:nvSpPr>
          <p:cNvPr id="44" name="Header GURU"/>
          <p:cNvSpPr/>
          <p:nvPr/>
        </p:nvSpPr>
        <p:spPr>
          <a:xfrm>
            <a:off x="2171700" y="1097280"/>
            <a:ext cx="1371600" cy="24688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2171700" y="109728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GURU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2244852" y="1389888"/>
            <a:ext cx="1243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PK id_guru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nip_nrg (unik)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nama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FK id_user</a:t>
            </a:r>
            <a:endParaRPr lang="en-US" sz="1000" dirty="0"/>
          </a:p>
        </p:txBody>
      </p:sp>
      <p:sp>
        <p:nvSpPr>
          <p:cNvPr id="47" name="Entitas PENUGASAN"/>
          <p:cNvSpPr/>
          <p:nvPr/>
        </p:nvSpPr>
        <p:spPr>
          <a:xfrm>
            <a:off x="3886200" y="1097280"/>
            <a:ext cx="1371600" cy="1005840"/>
          </a:xfrm>
          <a:prstGeom prst="rect">
            <a:avLst/>
          </a:prstGeom>
          <a:solidFill>
            <a:schemeClr val="bg2"/>
          </a:solidFill>
          <a:ln w="9525">
            <a:solidFill>
              <a:srgbClr val="C5D3D6"/>
            </a:solidFill>
            <a:prstDash val="solid"/>
          </a:ln>
        </p:spPr>
      </p:sp>
      <p:sp>
        <p:nvSpPr>
          <p:cNvPr id="48" name="Header PENUGASAN"/>
          <p:cNvSpPr/>
          <p:nvPr/>
        </p:nvSpPr>
        <p:spPr>
          <a:xfrm>
            <a:off x="3886200" y="1097280"/>
            <a:ext cx="1371600" cy="24688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3886200" y="109728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PENUGASAN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3959352" y="1389888"/>
            <a:ext cx="1243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PK id_penugasan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FK id_guru, id_mapel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FK id_kelas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periode</a:t>
            </a:r>
            <a:endParaRPr lang="en-US" sz="1000" dirty="0"/>
          </a:p>
        </p:txBody>
      </p:sp>
      <p:sp>
        <p:nvSpPr>
          <p:cNvPr id="51" name="Entitas MAPEL"/>
          <p:cNvSpPr/>
          <p:nvPr/>
        </p:nvSpPr>
        <p:spPr>
          <a:xfrm>
            <a:off x="5600700" y="1097280"/>
            <a:ext cx="1371600" cy="1005840"/>
          </a:xfrm>
          <a:prstGeom prst="rect">
            <a:avLst/>
          </a:prstGeom>
          <a:solidFill>
            <a:schemeClr val="bg2"/>
          </a:solidFill>
          <a:ln w="9525">
            <a:solidFill>
              <a:srgbClr val="C5D3D6"/>
            </a:solidFill>
            <a:prstDash val="solid"/>
          </a:ln>
        </p:spPr>
      </p:sp>
      <p:sp>
        <p:nvSpPr>
          <p:cNvPr id="52" name="Header MAPEL"/>
          <p:cNvSpPr/>
          <p:nvPr/>
        </p:nvSpPr>
        <p:spPr>
          <a:xfrm>
            <a:off x="5600700" y="1097280"/>
            <a:ext cx="1371600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600700" y="109728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MAPEL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5673852" y="1389888"/>
            <a:ext cx="1243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PK id_mapel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kode (unik)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nama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kelompok</a:t>
            </a:r>
            <a:endParaRPr lang="en-US" sz="1000" dirty="0"/>
          </a:p>
        </p:txBody>
      </p:sp>
      <p:sp>
        <p:nvSpPr>
          <p:cNvPr id="55" name="Entitas KONFIG_BOBOT"/>
          <p:cNvSpPr/>
          <p:nvPr/>
        </p:nvSpPr>
        <p:spPr>
          <a:xfrm>
            <a:off x="7315200" y="1097280"/>
            <a:ext cx="1371600" cy="1005840"/>
          </a:xfrm>
          <a:prstGeom prst="rect">
            <a:avLst/>
          </a:prstGeom>
          <a:solidFill>
            <a:schemeClr val="bg2"/>
          </a:solidFill>
          <a:ln w="9525">
            <a:solidFill>
              <a:srgbClr val="C5D3D6"/>
            </a:solidFill>
            <a:prstDash val="solid"/>
          </a:ln>
        </p:spPr>
      </p:sp>
      <p:sp>
        <p:nvSpPr>
          <p:cNvPr id="56" name="Header KONFIG_BOBOT"/>
          <p:cNvSpPr/>
          <p:nvPr/>
        </p:nvSpPr>
        <p:spPr>
          <a:xfrm>
            <a:off x="7315200" y="1097280"/>
            <a:ext cx="1371600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7315200" y="109728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KONFIG_BOBOT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7388352" y="1389888"/>
            <a:ext cx="1243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PK id_bobot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FK id_mapel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bobot_harian, uts, uas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total harus 100%</a:t>
            </a:r>
            <a:endParaRPr lang="en-US" sz="1000" dirty="0"/>
          </a:p>
        </p:txBody>
      </p:sp>
      <p:sp>
        <p:nvSpPr>
          <p:cNvPr id="59" name="Entitas KELAS"/>
          <p:cNvSpPr/>
          <p:nvPr/>
        </p:nvSpPr>
        <p:spPr>
          <a:xfrm>
            <a:off x="2171700" y="2359152"/>
            <a:ext cx="1371600" cy="1005840"/>
          </a:xfrm>
          <a:prstGeom prst="rect">
            <a:avLst/>
          </a:prstGeom>
          <a:solidFill>
            <a:schemeClr val="bg2"/>
          </a:solidFill>
          <a:ln w="9525">
            <a:solidFill>
              <a:srgbClr val="C5D3D6"/>
            </a:solidFill>
            <a:prstDash val="solid"/>
          </a:ln>
        </p:spPr>
      </p:sp>
      <p:sp>
        <p:nvSpPr>
          <p:cNvPr id="60" name="Header KELAS"/>
          <p:cNvSpPr/>
          <p:nvPr/>
        </p:nvSpPr>
        <p:spPr>
          <a:xfrm>
            <a:off x="2171700" y="2359152"/>
            <a:ext cx="1371600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2171700" y="235915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KELAS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2244852" y="2651760"/>
            <a:ext cx="1243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PK id_kelas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nama (tingkat, rombel)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FK id_wali (GURU)</a:t>
            </a:r>
            <a:endParaRPr lang="en-US" sz="1000" dirty="0"/>
          </a:p>
        </p:txBody>
      </p:sp>
      <p:sp>
        <p:nvSpPr>
          <p:cNvPr id="63" name="Entitas SISWA"/>
          <p:cNvSpPr/>
          <p:nvPr/>
        </p:nvSpPr>
        <p:spPr>
          <a:xfrm>
            <a:off x="3886200" y="2359152"/>
            <a:ext cx="1371600" cy="1005840"/>
          </a:xfrm>
          <a:prstGeom prst="rect">
            <a:avLst/>
          </a:prstGeom>
          <a:solidFill>
            <a:schemeClr val="bg2"/>
          </a:solidFill>
          <a:ln w="9525">
            <a:solidFill>
              <a:srgbClr val="C5D3D6"/>
            </a:solidFill>
            <a:prstDash val="solid"/>
          </a:ln>
        </p:spPr>
      </p:sp>
      <p:sp>
        <p:nvSpPr>
          <p:cNvPr id="64" name="Header SISWA"/>
          <p:cNvSpPr/>
          <p:nvPr/>
        </p:nvSpPr>
        <p:spPr>
          <a:xfrm>
            <a:off x="3886200" y="2359152"/>
            <a:ext cx="1371600" cy="2468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3886200" y="235915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SISWA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3959352" y="2651760"/>
            <a:ext cx="1243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PK id_siswa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nis, nisn (unik)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nama, jk, tgl_lahir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alamat · FK id_kelas</a:t>
            </a:r>
            <a:endParaRPr lang="en-US" sz="1000" dirty="0"/>
          </a:p>
        </p:txBody>
      </p:sp>
      <p:sp>
        <p:nvSpPr>
          <p:cNvPr id="67" name="Entitas NILAI"/>
          <p:cNvSpPr/>
          <p:nvPr/>
        </p:nvSpPr>
        <p:spPr>
          <a:xfrm>
            <a:off x="5600700" y="2359152"/>
            <a:ext cx="1371600" cy="1005840"/>
          </a:xfrm>
          <a:prstGeom prst="rect">
            <a:avLst/>
          </a:prstGeom>
          <a:solidFill>
            <a:schemeClr val="bg2"/>
          </a:solidFill>
          <a:ln w="9525">
            <a:solidFill>
              <a:srgbClr val="C5D3D6"/>
            </a:solidFill>
            <a:prstDash val="solid"/>
          </a:ln>
        </p:spPr>
      </p:sp>
      <p:sp>
        <p:nvSpPr>
          <p:cNvPr id="68" name="Header NILAI"/>
          <p:cNvSpPr/>
          <p:nvPr/>
        </p:nvSpPr>
        <p:spPr>
          <a:xfrm>
            <a:off x="5600700" y="2359152"/>
            <a:ext cx="1371600" cy="24688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5600700" y="235915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NILAI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5673852" y="2651760"/>
            <a:ext cx="1243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PK id_nilai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FK id_siswa, id_mapel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periode, jenis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nilai (0–100)</a:t>
            </a:r>
            <a:endParaRPr lang="en-US" sz="1000" dirty="0"/>
          </a:p>
        </p:txBody>
      </p:sp>
      <p:sp>
        <p:nvSpPr>
          <p:cNvPr id="71" name="Entitas RIWAYAT_NILAI"/>
          <p:cNvSpPr/>
          <p:nvPr/>
        </p:nvSpPr>
        <p:spPr>
          <a:xfrm>
            <a:off x="7315200" y="2359152"/>
            <a:ext cx="1371600" cy="1005840"/>
          </a:xfrm>
          <a:prstGeom prst="rect">
            <a:avLst/>
          </a:prstGeom>
          <a:solidFill>
            <a:schemeClr val="bg2"/>
          </a:solidFill>
          <a:ln w="9525">
            <a:solidFill>
              <a:srgbClr val="C5D3D6"/>
            </a:solidFill>
            <a:prstDash val="solid"/>
          </a:ln>
        </p:spPr>
      </p:sp>
      <p:sp>
        <p:nvSpPr>
          <p:cNvPr id="72" name="Header RIWAYAT_NILAI"/>
          <p:cNvSpPr/>
          <p:nvPr/>
        </p:nvSpPr>
        <p:spPr>
          <a:xfrm>
            <a:off x="7315200" y="2359152"/>
            <a:ext cx="1371600" cy="24688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7315200" y="235915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RIWAYAT_NILAI</a:t>
            </a:r>
            <a:endParaRPr lang="en-US" sz="1100" dirty="0"/>
          </a:p>
        </p:txBody>
      </p:sp>
      <p:sp>
        <p:nvSpPr>
          <p:cNvPr id="74" name="Text 72"/>
          <p:cNvSpPr txBox="1"/>
          <p:nvPr/>
        </p:nvSpPr>
        <p:spPr>
          <a:xfrm>
            <a:off x="7388352" y="2651760"/>
            <a:ext cx="1243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PK id_riwayat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FK id_nilai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nilai_lama → nilai_baru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waktu · FK id_user</a:t>
            </a:r>
            <a:endParaRPr lang="en-US" sz="1000" dirty="0"/>
          </a:p>
        </p:txBody>
      </p:sp>
      <p:sp>
        <p:nvSpPr>
          <p:cNvPr id="75" name="Entitas NILAI_AKHIR"/>
          <p:cNvSpPr/>
          <p:nvPr/>
        </p:nvSpPr>
        <p:spPr>
          <a:xfrm>
            <a:off x="5600700" y="3621024"/>
            <a:ext cx="1371600" cy="1005840"/>
          </a:xfrm>
          <a:prstGeom prst="rect">
            <a:avLst/>
          </a:prstGeom>
          <a:solidFill>
            <a:schemeClr val="bg2"/>
          </a:solidFill>
          <a:ln w="9525">
            <a:solidFill>
              <a:srgbClr val="C5D3D6"/>
            </a:solidFill>
            <a:prstDash val="solid"/>
          </a:ln>
        </p:spPr>
      </p:sp>
      <p:sp>
        <p:nvSpPr>
          <p:cNvPr id="76" name="Header NILAI_AKHIR"/>
          <p:cNvSpPr/>
          <p:nvPr/>
        </p:nvSpPr>
        <p:spPr>
          <a:xfrm>
            <a:off x="5600700" y="3621024"/>
            <a:ext cx="1371600" cy="24688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5600700" y="362102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NILAI_AKHIR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5673852" y="3913632"/>
            <a:ext cx="1243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PK id_nilai_akhir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FK id_siswa, id_mapel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periode, nilai_akhir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huruf (A/B/C/D)</a:t>
            </a:r>
            <a:endParaRPr lang="en-US" sz="1000" dirty="0"/>
          </a:p>
        </p:txBody>
      </p:sp>
      <p:sp>
        <p:nvSpPr>
          <p:cNvPr id="79" name="Aturan data penting"/>
          <p:cNvSpPr/>
          <p:nvPr/>
        </p:nvSpPr>
        <p:spPr>
          <a:xfrm>
            <a:off x="457200" y="3621024"/>
            <a:ext cx="48006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640080" y="3694176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 akun hanya terkait 1 guru; 1 kelas punya 1 wali kelas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NILAI unik per siswa, mapel, periode, dan jenis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Total bobot di KONFIG_BOBOT harus 100%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457200" y="4700016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PK = kunci utama · FK = kunci tamu · 1 / N = kardinalitas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Alur Kerja Sistem</a:t>
            </a:r>
            <a:endParaRPr lang="en-US" sz="3200" dirty="0"/>
          </a:p>
        </p:txBody>
      </p:sp>
      <p:sp>
        <p:nvSpPr>
          <p:cNvPr id="3" name="Langkah 1"/>
          <p:cNvSpPr/>
          <p:nvPr/>
        </p:nvSpPr>
        <p:spPr>
          <a:xfrm>
            <a:off x="457200" y="1143000"/>
            <a:ext cx="246888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4" name="Aktor Admin"/>
          <p:cNvSpPr/>
          <p:nvPr/>
        </p:nvSpPr>
        <p:spPr>
          <a:xfrm>
            <a:off x="640080" y="1307592"/>
            <a:ext cx="1051560" cy="27432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075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Admin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733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Siapkan data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8424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Buat akun; input master siswa, guru, mapel, kelas, dan penugasan</a:t>
            </a:r>
            <a:endParaRPr lang="en-US" sz="1400" dirty="0"/>
          </a:p>
        </p:txBody>
      </p:sp>
      <p:sp>
        <p:nvSpPr>
          <p:cNvPr id="9" name="Langkah 2"/>
          <p:cNvSpPr/>
          <p:nvPr/>
        </p:nvSpPr>
        <p:spPr>
          <a:xfrm>
            <a:off x="3337560" y="1143000"/>
            <a:ext cx="246888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0" name="Aktor Admin"/>
          <p:cNvSpPr/>
          <p:nvPr/>
        </p:nvSpPr>
        <p:spPr>
          <a:xfrm>
            <a:off x="3520440" y="1307592"/>
            <a:ext cx="1051560" cy="27432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0440" y="13075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Admin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6733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Atur konfigurasi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198424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Tetapkan bobot (total 100%) dan rentang nilai huruf</a:t>
            </a:r>
            <a:endParaRPr lang="en-US" sz="1400" dirty="0"/>
          </a:p>
        </p:txBody>
      </p:sp>
      <p:sp>
        <p:nvSpPr>
          <p:cNvPr id="15" name="Langkah 3"/>
          <p:cNvSpPr/>
          <p:nvPr/>
        </p:nvSpPr>
        <p:spPr>
          <a:xfrm>
            <a:off x="6217920" y="1143000"/>
            <a:ext cx="246888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6" name="Aktor Guru"/>
          <p:cNvSpPr/>
          <p:nvPr/>
        </p:nvSpPr>
        <p:spPr>
          <a:xfrm>
            <a:off x="6400800" y="1307592"/>
            <a:ext cx="1051560" cy="27432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13075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Guru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6733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Input nilai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198424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Login, pilih kelas, mapel, periode, lalu isi nilai harian, UTS, UAS</a:t>
            </a:r>
            <a:endParaRPr lang="en-US" sz="1400" dirty="0"/>
          </a:p>
        </p:txBody>
      </p:sp>
      <p:sp>
        <p:nvSpPr>
          <p:cNvPr id="21" name="Langkah 4"/>
          <p:cNvSpPr/>
          <p:nvPr/>
        </p:nvSpPr>
        <p:spPr>
          <a:xfrm>
            <a:off x="6217920" y="3017520"/>
            <a:ext cx="246888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2" name="Aktor Sistem"/>
          <p:cNvSpPr/>
          <p:nvPr/>
        </p:nvSpPr>
        <p:spPr>
          <a:xfrm>
            <a:off x="6400800" y="3182112"/>
            <a:ext cx="1051560" cy="274320"/>
          </a:xfrm>
          <a:prstGeom prst="roundRect">
            <a:avLst>
              <a:gd name="adj" fmla="val 26667"/>
            </a:avLst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0" y="31821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Sistem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35478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Validasi dan simpan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38587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Tolak nilai di luar 0–100; koreksi tercatat dengan waktu dan pengguna</a:t>
            </a:r>
            <a:endParaRPr lang="en-US" sz="1400" dirty="0"/>
          </a:p>
        </p:txBody>
      </p:sp>
      <p:sp>
        <p:nvSpPr>
          <p:cNvPr id="27" name="Langkah 5"/>
          <p:cNvSpPr/>
          <p:nvPr/>
        </p:nvSpPr>
        <p:spPr>
          <a:xfrm>
            <a:off x="3337560" y="3017520"/>
            <a:ext cx="246888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8" name="Aktor Sistem"/>
          <p:cNvSpPr/>
          <p:nvPr/>
        </p:nvSpPr>
        <p:spPr>
          <a:xfrm>
            <a:off x="3520440" y="3182112"/>
            <a:ext cx="1051560" cy="274320"/>
          </a:xfrm>
          <a:prstGeom prst="roundRect">
            <a:avLst>
              <a:gd name="adj" fmla="val 26667"/>
            </a:avLst>
          </a:prstGeom>
          <a:solidFill>
            <a:schemeClr val="tx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520440" y="31821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Sistem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3520440" y="35478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Hitung dan konversi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3520440" y="38587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Controller menghitung nilai akhir berbobot, lalu menentukan huruf A–D</a:t>
            </a:r>
            <a:endParaRPr lang="en-US" sz="1400" dirty="0"/>
          </a:p>
        </p:txBody>
      </p:sp>
      <p:sp>
        <p:nvSpPr>
          <p:cNvPr id="33" name="Langkah 6"/>
          <p:cNvSpPr/>
          <p:nvPr/>
        </p:nvSpPr>
        <p:spPr>
          <a:xfrm>
            <a:off x="457200" y="3017520"/>
            <a:ext cx="246888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34" name="Aktor Wali Kelas"/>
          <p:cNvSpPr/>
          <p:nvPr/>
        </p:nvSpPr>
        <p:spPr>
          <a:xfrm>
            <a:off x="640080" y="3182112"/>
            <a:ext cx="1051560" cy="274320"/>
          </a:xfrm>
          <a:prstGeom prst="roundRect">
            <a:avLst>
              <a:gd name="adj" fmla="val 26667"/>
            </a:avLst>
          </a:prstGeom>
          <a:solidFill>
            <a:schemeClr val="accent5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" y="31821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Wali Kelas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37744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6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35478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Laporan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38587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Cek rekap dan grafik kelas, lalu cetak rapor (PDF/A4)</a:t>
            </a:r>
            <a:endParaRPr lang="en-US" sz="1400" dirty="0"/>
          </a:p>
        </p:txBody>
      </p:sp>
      <p:sp>
        <p:nvSpPr>
          <p:cNvPr id="39" name="Panah alur"/>
          <p:cNvSpPr/>
          <p:nvPr/>
        </p:nvSpPr>
        <p:spPr>
          <a:xfrm>
            <a:off x="2962656" y="1920240"/>
            <a:ext cx="33832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40" name="Panah alur"/>
          <p:cNvSpPr/>
          <p:nvPr/>
        </p:nvSpPr>
        <p:spPr>
          <a:xfrm>
            <a:off x="5843016" y="1920240"/>
            <a:ext cx="33832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41" name="Panah alur"/>
          <p:cNvSpPr/>
          <p:nvPr/>
        </p:nvSpPr>
        <p:spPr>
          <a:xfrm>
            <a:off x="7452360" y="2697480"/>
            <a:ext cx="0" cy="32004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42" name="Panah alur"/>
          <p:cNvSpPr/>
          <p:nvPr/>
        </p:nvSpPr>
        <p:spPr>
          <a:xfrm>
            <a:off x="5843016" y="3794760"/>
            <a:ext cx="33832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headEnd type="triangle"/>
          </a:ln>
        </p:spPr>
      </p:sp>
      <p:sp>
        <p:nvSpPr>
          <p:cNvPr id="43" name="Panah alur"/>
          <p:cNvSpPr/>
          <p:nvPr/>
        </p:nvSpPr>
        <p:spPr>
          <a:xfrm>
            <a:off x="2962656" y="3794760"/>
            <a:ext cx="33832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head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Non-Fungsional: NFR-01 – NFR-04</a:t>
            </a:r>
            <a:endParaRPr lang="en-US" sz="3200" dirty="0"/>
          </a:p>
        </p:txBody>
      </p:sp>
      <p:sp>
        <p:nvSpPr>
          <p:cNvPr id="3" name="Kartu NFR-01 Keamanan"/>
          <p:cNvSpPr/>
          <p:nvPr/>
        </p:nvSpPr>
        <p:spPr>
          <a:xfrm>
            <a:off x="457200" y="1143000"/>
            <a:ext cx="40233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527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NFR-01 Keamanan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81912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Autentikasi wajib, otorisasi berbasis peran, sandi ter-hash, HTTPS, perubahan nilai tercatat.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Diterima jika: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Tanpa sesi dialihkan ke login; guru tidak bisa akses data di luar penugasan; sandi tidak tampil di UI atau log.</a:t>
            </a:r>
            <a:endParaRPr lang="en-US" sz="1400" dirty="0"/>
          </a:p>
        </p:txBody>
      </p:sp>
      <p:sp>
        <p:nvSpPr>
          <p:cNvPr id="6" name="Kartu NFR-02 Validitas Data"/>
          <p:cNvSpPr/>
          <p:nvPr/>
        </p:nvSpPr>
        <p:spPr>
          <a:xfrm>
            <a:off x="4663440" y="1143000"/>
            <a:ext cx="40233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2527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NFR-02 Validitas Data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581912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Data divalidasi di klien dan server: nilai 0–100 dan total bobot tepat 100%.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Diterima jika: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Nilai &gt;100 atau &lt;0, bobot bukan 100%, kolom wajib kosong ditolak dengan pesan jelas.</a:t>
            </a:r>
            <a:endParaRPr lang="en-US" sz="1400" dirty="0"/>
          </a:p>
        </p:txBody>
      </p:sp>
      <p:sp>
        <p:nvSpPr>
          <p:cNvPr id="9" name="Kartu NFR-03 Akurasi"/>
          <p:cNvSpPr/>
          <p:nvPr/>
        </p:nvSpPr>
        <p:spPr>
          <a:xfrm>
            <a:off x="457200" y="2926080"/>
            <a:ext cx="40233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0358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NFR-03 Akurasi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364992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Rumus bobot dan konversi seragam, pembulatan 2 angka desimal.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Diterima jika: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Hasil sesuai rumus pada semua kasus uji; ada unit test modul hitung dan konversi.</a:t>
            </a:r>
            <a:endParaRPr lang="en-US" sz="1400" dirty="0"/>
          </a:p>
        </p:txBody>
      </p:sp>
      <p:sp>
        <p:nvSpPr>
          <p:cNvPr id="12" name="Kartu NFR-04 Kinerja"/>
          <p:cNvSpPr/>
          <p:nvPr/>
        </p:nvSpPr>
        <p:spPr>
          <a:xfrm>
            <a:off x="4663440" y="2926080"/>
            <a:ext cx="40233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30358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NFR-04 Kinerja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364992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Waktu respons wajar untuk skala sekolah menengah.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Diterima jika: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Operasi normal ≤ 3 detik; halaman laporan ≤ 5 detik pada beban normal.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Non-Fungsional: NFR-05 – NFR-07</a:t>
            </a:r>
            <a:endParaRPr lang="en-US" sz="3200" dirty="0"/>
          </a:p>
        </p:txBody>
      </p:sp>
      <p:sp>
        <p:nvSpPr>
          <p:cNvPr id="3" name="Kartu NFR-05 Kemudahan Penggunaan"/>
          <p:cNvSpPr/>
          <p:nvPr/>
        </p:nvSpPr>
        <p:spPr>
          <a:xfrm>
            <a:off x="457200" y="1143000"/>
            <a:ext cx="2606040" cy="28346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128016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NFR-05 Kemudahan Penggunaan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856232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Antarmuka mudah, berbahasa Indonesia, navigasi jelas, pesan error informatif.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Diterima jika: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Pengguna baru bisa input nilai tanpa pelatihan intensif; dasbor ke fitur utama maksimal 3 langkah.</a:t>
            </a:r>
            <a:endParaRPr lang="en-US" sz="1400" dirty="0"/>
          </a:p>
        </p:txBody>
      </p:sp>
      <p:sp>
        <p:nvSpPr>
          <p:cNvPr id="6" name="Kartu NFR-06 Keandalan dan Backup"/>
          <p:cNvSpPr/>
          <p:nvPr/>
        </p:nvSpPr>
        <p:spPr>
          <a:xfrm>
            <a:off x="3268980" y="1143000"/>
            <a:ext cx="2606040" cy="28346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0148" y="128016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NFR-06 Keandalan dan Backup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0148" y="1856232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Backup data berkala dan mekanisme pemulihan.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Diterima jika: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Backup terjadwal (misal harian); data dapat dipulihkan dengan kehilangan minimal.</a:t>
            </a:r>
            <a:endParaRPr lang="en-US" sz="1400" dirty="0"/>
          </a:p>
        </p:txBody>
      </p:sp>
      <p:sp>
        <p:nvSpPr>
          <p:cNvPr id="9" name="Kartu NFR-07 Kompatibilitas"/>
          <p:cNvSpPr/>
          <p:nvPr/>
        </p:nvSpPr>
        <p:spPr>
          <a:xfrm>
            <a:off x="6080760" y="1143000"/>
            <a:ext cx="2606040" cy="28346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81928" y="128016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NFR-07 Kompatibilitas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81928" y="1856232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Kompatibel dengan peramban modern dan ukuran layar umum.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Diterima jika: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Berfungsi di Chrome, Firefox, Edge, Safari terkini; tampil baik di 1366×768 dan 1920×1080; rapor A4.</a:t>
            </a:r>
            <a:endParaRPr lang="en-US" sz="1400" dirty="0"/>
          </a:p>
        </p:txBody>
      </p:sp>
      <p:sp>
        <p:nvSpPr>
          <p:cNvPr id="12" name="Ringkasan prioritas NFR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114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Seluruh NFR-01 sampai NFR-07 berprioritas Wajib.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Matriks Ketertelusuran FR–NFR</a:t>
            </a:r>
            <a:endParaRPr lang="en-US" sz="3200" dirty="0"/>
          </a:p>
        </p:txBody>
      </p:sp>
      <p:graphicFrame>
        <p:nvGraphicFramePr>
          <p:cNvPr id="12" name="Matriks ketertelusura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122529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Kebutuhan fungsional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NFR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NFR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NFR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NFR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NFR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NFR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NFR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Prioritas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</a:rPr>
                        <a:t>FR-01 Login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Wajib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</a:rPr>
                        <a:t>FR-02–05 Data master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Wajib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</a:rPr>
                        <a:t>FR-06–07 Input dan ubah nilai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Wajib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</a:rPr>
                        <a:t>FR-08–09 Hitung dan konversi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Wajib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</a:rPr>
                        <a:t>FR-10 Cetak rapor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Wajib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3C49"/>
                          </a:solidFill>
                        </a:rPr>
                        <a:t>FR-11 Grafik kelas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</a:rPr>
                        <a:t>Seharusnya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7083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Tanda ✓ berarti NFR tersebut harus dipenuhi oleh fungsi terkait, sehingga setiap kebutuhan dapat ditelusuri pemenuhannya.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Cakupan, Asumsi, Dependensi</a:t>
            </a:r>
            <a:endParaRPr lang="en-US" sz="3200" dirty="0"/>
          </a:p>
        </p:txBody>
      </p:sp>
      <p:sp>
        <p:nvSpPr>
          <p:cNvPr id="3" name="Kartu dalam cakupan"/>
          <p:cNvSpPr/>
          <p:nvPr/>
        </p:nvSpPr>
        <p:spPr>
          <a:xfrm>
            <a:off x="457200" y="1143000"/>
            <a:ext cx="40233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618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Dalam cakupan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27632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 master dan transaksi nilai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Perhitungan bobot dan konversi huruf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Rekap, grafik kelas, dan rapor</a:t>
            </a:r>
            <a:endParaRPr lang="en-US" sz="1400" dirty="0"/>
          </a:p>
        </p:txBody>
      </p:sp>
      <p:sp>
        <p:nvSpPr>
          <p:cNvPr id="6" name="Kartu luar cakupan"/>
          <p:cNvSpPr/>
          <p:nvPr/>
        </p:nvSpPr>
        <p:spPr>
          <a:xfrm>
            <a:off x="457200" y="2926080"/>
            <a:ext cx="40233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30449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Di luar cakupan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410712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Pembayaran SPP dan absensi siswa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Penerimaan siswa baru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Ujian daring dan layanan lain</a:t>
            </a:r>
            <a:endParaRPr lang="en-US" sz="1400" dirty="0"/>
          </a:p>
        </p:txBody>
      </p:sp>
      <p:sp>
        <p:nvSpPr>
          <p:cNvPr id="9" name="Kartu asumsi dan dependensi"/>
          <p:cNvSpPr/>
          <p:nvPr/>
        </p:nvSpPr>
        <p:spPr>
          <a:xfrm>
            <a:off x="4663440" y="1143000"/>
            <a:ext cx="402336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2618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Asumsi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609344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 master awal tersedia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Bobot default 30/30/40, dapat diubah (total 100%)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Huruf: A ≥85, B ≥75, C ≥60, D &lt;60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Semua akun dibuat oleh Admin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32004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Dependensi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354787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Server web dan basis data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Kebijakan penilaian sekolah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 awal akademik dari sekolah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Jaringan dan peramban modern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Penutup dan Langkah Lanjut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Kebutuhan FR-01–FR-11 dan NFR-01–NFR-07 sudah dirumuskan. Langkah berikutnya:</a:t>
            </a:r>
            <a:endParaRPr lang="en-US" sz="1600" dirty="0"/>
          </a:p>
        </p:txBody>
      </p:sp>
      <p:sp>
        <p:nvSpPr>
          <p:cNvPr id="4" name="Langkah lanjut 1"/>
          <p:cNvSpPr/>
          <p:nvPr/>
        </p:nvSpPr>
        <p:spPr>
          <a:xfrm>
            <a:off x="457200" y="1783080"/>
            <a:ext cx="1828800" cy="210312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/>
        </p:spPr>
      </p:sp>
      <p:sp>
        <p:nvSpPr>
          <p:cNvPr id="5" name="Nomor lanjut 1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Rancang basis data dan antarmuka secara terperinci</a:t>
            </a:r>
            <a:endParaRPr lang="en-US" sz="1500" dirty="0"/>
          </a:p>
        </p:txBody>
      </p:sp>
      <p:sp>
        <p:nvSpPr>
          <p:cNvPr id="8" name="Langkah lanjut 2"/>
          <p:cNvSpPr/>
          <p:nvPr/>
        </p:nvSpPr>
        <p:spPr>
          <a:xfrm>
            <a:off x="2590495" y="1783080"/>
            <a:ext cx="1828800" cy="210312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/>
        </p:spPr>
      </p:sp>
      <p:sp>
        <p:nvSpPr>
          <p:cNvPr id="9" name="Nomor lanjut 2"/>
          <p:cNvSpPr/>
          <p:nvPr/>
        </p:nvSpPr>
        <p:spPr>
          <a:xfrm>
            <a:off x="2773375" y="1965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73375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773375" y="260604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Implementasi validasi dan algoritma perhitungan</a:t>
            </a:r>
            <a:endParaRPr lang="en-US" sz="1500" dirty="0"/>
          </a:p>
        </p:txBody>
      </p:sp>
      <p:sp>
        <p:nvSpPr>
          <p:cNvPr id="12" name="Langkah lanjut 3"/>
          <p:cNvSpPr/>
          <p:nvPr/>
        </p:nvSpPr>
        <p:spPr>
          <a:xfrm>
            <a:off x="4723790" y="1783080"/>
            <a:ext cx="1828800" cy="210312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/>
        </p:spPr>
      </p:sp>
      <p:sp>
        <p:nvSpPr>
          <p:cNvPr id="13" name="Nomor lanjut 3"/>
          <p:cNvSpPr/>
          <p:nvPr/>
        </p:nvSpPr>
        <p:spPr>
          <a:xfrm>
            <a:off x="4906670" y="1965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0667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906670" y="260604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Uji fungsional dan uji perhitungan</a:t>
            </a:r>
            <a:endParaRPr lang="en-US" sz="1500" dirty="0"/>
          </a:p>
        </p:txBody>
      </p:sp>
      <p:sp>
        <p:nvSpPr>
          <p:cNvPr id="16" name="Langkah lanjut 4"/>
          <p:cNvSpPr/>
          <p:nvPr/>
        </p:nvSpPr>
        <p:spPr>
          <a:xfrm>
            <a:off x="6857086" y="1783080"/>
            <a:ext cx="1828800" cy="210312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/>
        </p:spPr>
      </p:sp>
      <p:sp>
        <p:nvSpPr>
          <p:cNvPr id="17" name="Nomor lanjut 4"/>
          <p:cNvSpPr/>
          <p:nvPr/>
        </p:nvSpPr>
        <p:spPr>
          <a:xfrm>
            <a:off x="7039966" y="1965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39966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39966" y="260604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Evaluasi dan penyempurnaan berkelanjutan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Dokumen ini adalah perencanaan kebutuhan; implementasi sistem belum diklaim selesai.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Terima kasih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lai Akademik">
  <a:themeElements>
    <a:clrScheme name="Nilai Akademik">
      <a:dk1>
        <a:srgbClr val="14213D"/>
      </a:dk1>
      <a:lt1>
        <a:srgbClr val="FFFFFF"/>
      </a:lt1>
      <a:dk2>
        <a:srgbClr val="0B3C49"/>
      </a:dk2>
      <a:lt2>
        <a:srgbClr val="EEF4F5"/>
      </a:lt2>
      <a:accent1>
        <a:srgbClr val="0F766E"/>
      </a:accent1>
      <a:accent2>
        <a:srgbClr val="F59E0B"/>
      </a:accent2>
      <a:accent3>
        <a:srgbClr val="1D4E89"/>
      </a:accent3>
      <a:accent4>
        <a:srgbClr val="64748B"/>
      </a:accent4>
      <a:accent5>
        <a:srgbClr val="B45309"/>
      </a:accent5>
      <a:accent6>
        <a:srgbClr val="0EA5A4"/>
      </a:accent6>
      <a:hlink>
        <a:srgbClr val="1D4E89"/>
      </a:hlink>
      <a:folHlink>
        <a:srgbClr val="64748B"/>
      </a:folHlink>
    </a:clrScheme>
    <a:fontScheme name="Nilai Akademi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Informasi Nilai Akademik</dc:title>
  <dc:subject>PptxGenJS Presentation</dc:subject>
  <dc:creator>Kelompok 4</dc:creator>
  <cp:lastModifiedBy>Kelompok 4</cp:lastModifiedBy>
  <cp:revision>1</cp:revision>
  <dcterms:created xsi:type="dcterms:W3CDTF">2026-10-21T11:26:49Z</dcterms:created>
  <dcterms:modified xsi:type="dcterms:W3CDTF">2026-10-21T11:26:49Z</dcterms:modified>
</cp:coreProperties>
</file>